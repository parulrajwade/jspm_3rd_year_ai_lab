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871900"/>
            <a:ext cx="3757613" cy="4457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Medical Chatbot</a:t>
            </a:r>
            <a:endParaRPr lang="en-US" sz="2649" dirty="0"/>
          </a:p>
        </p:txBody>
      </p:sp>
      <p:sp>
        <p:nvSpPr>
          <p:cNvPr id="4" name="Text 1"/>
          <p:cNvSpPr/>
          <p:nvPr/>
        </p:nvSpPr>
        <p:spPr>
          <a:xfrm>
            <a:off x="600075" y="1403384"/>
            <a:ext cx="37576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for Medical Information Retrieval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428625" y="1992743"/>
            <a:ext cx="3929063" cy="746522"/>
          </a:xfrm>
          <a:prstGeom prst="rect">
            <a:avLst/>
          </a:prstGeom>
          <a:solidFill>
            <a:srgbClr val="1A5490">
              <a:alpha val="3000"/>
            </a:srgbClr>
          </a:solidFill>
          <a:ln w="99">
            <a:solidFill>
              <a:srgbClr val="00A8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925" y="2114187"/>
            <a:ext cx="37004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JSPM's Rajarshi Shahu College of Engineering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42925" y="2307068"/>
            <a:ext cx="3700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Tathawade, Pune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542925" y="2462445"/>
            <a:ext cx="3700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 of Computer Science and Business Systems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28625" y="3025015"/>
            <a:ext cx="3929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Team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535781" y="3198251"/>
            <a:ext cx="9468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Pratik Rajendra Patil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1539757" y="3208074"/>
            <a:ext cx="5632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(RBT23CB026)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35781" y="3376845"/>
            <a:ext cx="10128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Atharv Pramod Barge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1605781" y="3386668"/>
            <a:ext cx="5632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(RBT23CB034)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28625" y="3812614"/>
            <a:ext cx="3929063" cy="451842"/>
          </a:xfrm>
          <a:prstGeom prst="rect">
            <a:avLst/>
          </a:prstGeom>
          <a:solidFill>
            <a:srgbClr val="E74C3C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3812614"/>
            <a:ext cx="21431" cy="45184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542925" y="3898339"/>
            <a:ext cx="37004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Faculty Guide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542925" y="4043000"/>
            <a:ext cx="37004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Prof. Parul Rajwade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393531" y="1214438"/>
            <a:ext cx="2714625" cy="2714625"/>
          </a:xfrm>
          <a:prstGeom prst="rect">
            <a:avLst/>
          </a:prstGeom>
          <a:solidFill>
            <a:srgbClr val="F8FBFF"/>
          </a:solidFill>
          <a:ln w="198">
            <a:solidFill>
              <a:srgbClr val="00A8C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531" y="1214438"/>
            <a:ext cx="271462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56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&amp; Objective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Addressing LLM Hallucination in Medical Domains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600075" y="1348383"/>
            <a:ext cx="3829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Challenge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600075" y="1589484"/>
            <a:ext cx="38290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Large Language Models (LLMs) are prone to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hallucination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generating plausible but incorrect or fabricated information. In medical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domains, this poses a serious risk to user safety and trust.</a:t>
            </a:r>
            <a:endParaRPr lang="en-US" sz="780" dirty="0"/>
          </a:p>
        </p:txBody>
      </p:sp>
      <p:sp>
        <p:nvSpPr>
          <p:cNvPr id="7" name="Shape 4"/>
          <p:cNvSpPr/>
          <p:nvPr/>
        </p:nvSpPr>
        <p:spPr>
          <a:xfrm>
            <a:off x="600075" y="2218134"/>
            <a:ext cx="3829050" cy="457200"/>
          </a:xfrm>
          <a:prstGeom prst="rect">
            <a:avLst/>
          </a:prstGeom>
          <a:solidFill>
            <a:srgbClr val="E74C3C">
              <a:alpha val="10000"/>
            </a:srgbClr>
          </a:solidFill>
          <a:ln w="99">
            <a:solidFill>
              <a:srgbClr val="E74C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0075" y="2218134"/>
            <a:ext cx="3829050" cy="457200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Risk: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Inaccurate medical information can mislead users and compromise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their health decisions.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00075" y="2832497"/>
            <a:ext cx="3829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Solution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00075" y="3073598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a factually-grounded Q&amp;A chatbot using RAG architecture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600075" y="3309342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Ground all answers exclusively in The Gale Encyclopedia of Medicine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00075" y="3545086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Eliminate hallucination through retrieval-augmented generation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00075" y="3780830"/>
            <a:ext cx="3829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Provide a user-friendly, voice-enabled interface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714875" y="1348383"/>
            <a:ext cx="4000500" cy="1384102"/>
          </a:xfrm>
          <a:prstGeom prst="rect">
            <a:avLst/>
          </a:prstGeom>
          <a:solidFill>
            <a:srgbClr val="00A8CC">
              <a:alpha val="3000"/>
            </a:srgbClr>
          </a:solidFill>
          <a:ln w="99">
            <a:solidFill>
              <a:srgbClr val="00A8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9175" y="1462683"/>
            <a:ext cx="377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829175" y="1684139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Context-Aware Answers: Strictly based on encyclopedia content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829175" y="1868091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Voice-Enabled UI: Hands-free interaction with speech-to-text and text-to-speech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4829175" y="2052042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Interface: Clean, responsive Streamlit application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829175" y="2235994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Medical Disclaimer: Prominently displayed for responsible use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4829175" y="2419945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Retrieval: Efficient FAISS vector database search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4714875" y="2889647"/>
            <a:ext cx="4000500" cy="1200150"/>
          </a:xfrm>
          <a:prstGeom prst="rect">
            <a:avLst/>
          </a:prstGeom>
          <a:solidFill>
            <a:srgbClr val="00A8CC">
              <a:alpha val="3000"/>
            </a:srgbClr>
          </a:solidFill>
          <a:ln w="99">
            <a:solidFill>
              <a:srgbClr val="00A8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9175" y="1684139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4829175" y="1868091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4829175" y="2052042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4829175" y="2235994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4829175" y="2419945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4829175" y="3003947"/>
            <a:ext cx="377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Scope &amp; Limitations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829175" y="3225403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Source: The Gale Encyclopedia of Medicine (Static)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829175" y="3409355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Live Internet: Strictly limited to provided knowledge base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829175" y="3593306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Informational Only: Not a substitute for professional medical advice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4829175" y="3777258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Stateless: No user data or chat history stored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4714875" y="4332684"/>
            <a:ext cx="4000500" cy="442913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3" name="Text 30"/>
          <p:cNvSpPr/>
          <p:nvPr/>
        </p:nvSpPr>
        <p:spPr>
          <a:xfrm>
            <a:off x="4829175" y="3225403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4829175" y="3409355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4829175" y="3593306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4829175" y="3777258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4829175" y="4418409"/>
            <a:ext cx="3771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Aligned with</a:t>
            </a:r>
            <a:endParaRPr lang="en-US" sz="534" dirty="0"/>
          </a:p>
        </p:txBody>
      </p:sp>
      <p:sp>
        <p:nvSpPr>
          <p:cNvPr id="38" name="Text 35"/>
          <p:cNvSpPr/>
          <p:nvPr/>
        </p:nvSpPr>
        <p:spPr>
          <a:xfrm>
            <a:off x="4829175" y="4554141"/>
            <a:ext cx="37719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SDG 3: Good Health &amp; Well-being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5629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Architecture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Retrieval, Augmentation, and Generation Pipeline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428625" y="1276945"/>
            <a:ext cx="4000500" cy="708627"/>
          </a:xfrm>
          <a:prstGeom prst="rect">
            <a:avLst/>
          </a:prstGeom>
          <a:solidFill>
            <a:srgbClr val="00A8CC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276945"/>
            <a:ext cx="28575" cy="708627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276945"/>
            <a:ext cx="4000500" cy="70862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Concept: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RAG enhances a Large Language Model (LLM) by integrating an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external knowledge retrieval system. This hybrid approach ensures factually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accurate answers grounded in trusted sources.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428625" y="2128447"/>
            <a:ext cx="4000500" cy="1351955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925" y="2242747"/>
            <a:ext cx="228600" cy="228600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10" name="Text 7"/>
          <p:cNvSpPr/>
          <p:nvPr/>
        </p:nvSpPr>
        <p:spPr>
          <a:xfrm>
            <a:off x="542925" y="224274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42925" y="2557072"/>
            <a:ext cx="37719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542925" y="2760669"/>
            <a:ext cx="37719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a user asks a question, the system embeds the query and searches the FAISS vector database to retrieve the most relevant text chunks from The Gale Encyclopedia of Medicine.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542925" y="3235728"/>
            <a:ext cx="3771900" cy="11608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Technology: FAISS (Facebook AI Similarity Search) for fast, high-speed document retrieval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28625" y="3608989"/>
            <a:ext cx="4000500" cy="1212652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2925" y="3723289"/>
            <a:ext cx="228600" cy="228600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16" name="Text 13"/>
          <p:cNvSpPr/>
          <p:nvPr/>
        </p:nvSpPr>
        <p:spPr>
          <a:xfrm>
            <a:off x="542925" y="372328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42925" y="4037614"/>
            <a:ext cx="37719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Augment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542925" y="4241211"/>
            <a:ext cx="3771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retrieved text chunks are injected into the prompt as context, alongside the user's original question, creating a rich, contextual input.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542925" y="4576967"/>
            <a:ext cx="3771900" cy="11608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augmented prompt ensures the LLM has access to verified, source-based information</a:t>
            </a:r>
            <a:endParaRPr lang="en-US" sz="621" dirty="0"/>
          </a:p>
        </p:txBody>
      </p:sp>
      <p:sp>
        <p:nvSpPr>
          <p:cNvPr id="20" name="Shape 17"/>
          <p:cNvSpPr/>
          <p:nvPr/>
        </p:nvSpPr>
        <p:spPr>
          <a:xfrm>
            <a:off x="428625" y="4950228"/>
            <a:ext cx="4000500" cy="1212652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2925" y="5064528"/>
            <a:ext cx="228600" cy="228600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22" name="Text 19"/>
          <p:cNvSpPr/>
          <p:nvPr/>
        </p:nvSpPr>
        <p:spPr>
          <a:xfrm>
            <a:off x="542925" y="506452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42925" y="5378853"/>
            <a:ext cx="37719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</a:t>
            </a:r>
            <a:endParaRPr lang="en-US" sz="734" dirty="0"/>
          </a:p>
        </p:txBody>
      </p:sp>
      <p:sp>
        <p:nvSpPr>
          <p:cNvPr id="24" name="Text 21"/>
          <p:cNvSpPr/>
          <p:nvPr/>
        </p:nvSpPr>
        <p:spPr>
          <a:xfrm>
            <a:off x="542925" y="5582450"/>
            <a:ext cx="3771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Mistral-7B LLM processes the augmented prompt and generates a factually-grounded answer based exclusively on the provided context.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542925" y="5918206"/>
            <a:ext cx="3771900" cy="11608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prompt enforces: "If you don't know, say so. Don't make up answers."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4714875" y="1276945"/>
            <a:ext cx="4000500" cy="3000375"/>
          </a:xfrm>
          <a:prstGeom prst="rect">
            <a:avLst/>
          </a:prstGeom>
          <a:solidFill>
            <a:srgbClr val="F8FBFF"/>
          </a:solidFill>
          <a:ln w="198">
            <a:solidFill>
              <a:srgbClr val="1A549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76945"/>
            <a:ext cx="4000500" cy="3000375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4714875" y="4420195"/>
            <a:ext cx="4000500" cy="1037630"/>
          </a:xfrm>
          <a:prstGeom prst="rect">
            <a:avLst/>
          </a:prstGeom>
          <a:solidFill>
            <a:srgbClr val="E74C3C">
              <a:alpha val="5000"/>
            </a:srgbClr>
          </a:solidFill>
          <a:ln w="99">
            <a:solidFill>
              <a:srgbClr val="E74C3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00600" y="4505920"/>
            <a:ext cx="38290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RAG for Medical Domains?</a:t>
            </a:r>
            <a:endParaRPr lang="en-US" sz="584" dirty="0"/>
          </a:p>
        </p:txBody>
      </p:sp>
      <p:sp>
        <p:nvSpPr>
          <p:cNvPr id="30" name="Text 26"/>
          <p:cNvSpPr/>
          <p:nvPr/>
        </p:nvSpPr>
        <p:spPr>
          <a:xfrm>
            <a:off x="4800600" y="4679156"/>
            <a:ext cx="38290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Eliminates hallucination through source grounding</a:t>
            </a:r>
            <a:endParaRPr lang="en-US" sz="621" dirty="0"/>
          </a:p>
        </p:txBody>
      </p:sp>
      <p:sp>
        <p:nvSpPr>
          <p:cNvPr id="31" name="Text 27"/>
          <p:cNvSpPr/>
          <p:nvPr/>
        </p:nvSpPr>
        <p:spPr>
          <a:xfrm>
            <a:off x="4800600" y="4848820"/>
            <a:ext cx="38290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Enables source verification and transparency</a:t>
            </a:r>
            <a:endParaRPr lang="en-US" sz="621" dirty="0"/>
          </a:p>
        </p:txBody>
      </p:sp>
      <p:sp>
        <p:nvSpPr>
          <p:cNvPr id="32" name="Text 28"/>
          <p:cNvSpPr/>
          <p:nvPr/>
        </p:nvSpPr>
        <p:spPr>
          <a:xfrm>
            <a:off x="4800600" y="5018484"/>
            <a:ext cx="38290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base updates without LLM retraining</a:t>
            </a:r>
            <a:endParaRPr lang="en-US" sz="621" dirty="0"/>
          </a:p>
        </p:txBody>
      </p:sp>
      <p:sp>
        <p:nvSpPr>
          <p:cNvPr id="33" name="Text 29"/>
          <p:cNvSpPr/>
          <p:nvPr/>
        </p:nvSpPr>
        <p:spPr>
          <a:xfrm>
            <a:off x="4800600" y="5188148"/>
            <a:ext cx="38290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Fast, efficient retrieval at scale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6829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Implementation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Three-Module Architecture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428625" y="1276945"/>
            <a:ext cx="4000500" cy="1601986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2925" y="1391245"/>
            <a:ext cx="200025" cy="200025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7" name="Text 4"/>
          <p:cNvSpPr/>
          <p:nvPr/>
        </p:nvSpPr>
        <p:spPr>
          <a:xfrm>
            <a:off x="542925" y="1391245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828675" y="1423392"/>
            <a:ext cx="15350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Ingestion &amp; Vectorization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42925" y="1676995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Purpose: Process source PDF and create searchable knowledge base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542925" y="1864519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Load: Ingest The Gale Encyclopedia of Medicine PDF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42925" y="2023467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Chunk: Split document into overlapping text pieces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42925" y="2182416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Embed: Convert chunks to vectors using all-MiniLM-L6-v2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42925" y="2341364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Store: Save vectors in FAISS database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542925" y="2528888"/>
            <a:ext cx="3771900" cy="221456"/>
          </a:xfrm>
          <a:prstGeom prst="rect">
            <a:avLst/>
          </a:prstGeom>
          <a:solidFill>
            <a:srgbClr val="00A8CC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42925" y="2528888"/>
            <a:ext cx="14288" cy="221456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6" name="Text 13"/>
          <p:cNvSpPr/>
          <p:nvPr/>
        </p:nvSpPr>
        <p:spPr>
          <a:xfrm>
            <a:off x="542925" y="2528888"/>
            <a:ext cx="3771900" cy="221456"/>
          </a:xfrm>
          <a:prstGeom prst="rect">
            <a:avLst/>
          </a:prstGeom>
          <a:noFill/>
          <a:ln/>
        </p:spPr>
        <p:txBody>
          <a:bodyPr wrap="square" lIns="102108" tIns="68072" rIns="68072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LangChain, HuggingFace Embeddings, FAISS</a:t>
            </a:r>
            <a:endParaRPr lang="en-US" sz="534" dirty="0"/>
          </a:p>
        </p:txBody>
      </p:sp>
      <p:sp>
        <p:nvSpPr>
          <p:cNvPr id="17" name="Shape 14"/>
          <p:cNvSpPr/>
          <p:nvPr/>
        </p:nvSpPr>
        <p:spPr>
          <a:xfrm>
            <a:off x="428625" y="2978944"/>
            <a:ext cx="4000500" cy="1601986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950" y="1864519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742950" y="2023467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742950" y="2182416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742950" y="2341364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542925" y="3093244"/>
            <a:ext cx="200025" cy="200025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23" name="Text 20"/>
          <p:cNvSpPr/>
          <p:nvPr/>
        </p:nvSpPr>
        <p:spPr>
          <a:xfrm>
            <a:off x="542925" y="3093244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828675" y="3125391"/>
            <a:ext cx="8871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RAG Pipeline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42925" y="3378994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Purpose: Orchestrate query, retrieval, and answer generation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542925" y="3566517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Retrieve: Find relevant text chunks from FAISS database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542925" y="3725466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Augment: Inject retrieved chunks into prompt as context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542925" y="3884414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Generate: Send augmented prompt to Mistral-7B LLM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542925" y="4043363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Return: Deliver factually-grounded answer to user</a:t>
            </a:r>
            <a:endParaRPr lang="en-US" sz="621" dirty="0"/>
          </a:p>
        </p:txBody>
      </p:sp>
      <p:sp>
        <p:nvSpPr>
          <p:cNvPr id="30" name="Shape 27"/>
          <p:cNvSpPr/>
          <p:nvPr/>
        </p:nvSpPr>
        <p:spPr>
          <a:xfrm>
            <a:off x="542925" y="4230886"/>
            <a:ext cx="3771900" cy="221456"/>
          </a:xfrm>
          <a:prstGeom prst="rect">
            <a:avLst/>
          </a:prstGeom>
          <a:solidFill>
            <a:srgbClr val="00A8CC">
              <a:alpha val="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542925" y="4230886"/>
            <a:ext cx="14288" cy="221456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2" name="Text 29"/>
          <p:cNvSpPr/>
          <p:nvPr/>
        </p:nvSpPr>
        <p:spPr>
          <a:xfrm>
            <a:off x="542925" y="4230886"/>
            <a:ext cx="3771900" cy="221456"/>
          </a:xfrm>
          <a:prstGeom prst="rect">
            <a:avLst/>
          </a:prstGeom>
          <a:noFill/>
          <a:ln/>
        </p:spPr>
        <p:txBody>
          <a:bodyPr wrap="square" lIns="102108" tIns="68072" rIns="68072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LangChain, HuggingFace Endpoint, Mistral-7B</a:t>
            </a:r>
            <a:endParaRPr lang="en-US" sz="534" dirty="0"/>
          </a:p>
        </p:txBody>
      </p:sp>
      <p:sp>
        <p:nvSpPr>
          <p:cNvPr id="33" name="Shape 30"/>
          <p:cNvSpPr/>
          <p:nvPr/>
        </p:nvSpPr>
        <p:spPr>
          <a:xfrm>
            <a:off x="428625" y="4680942"/>
            <a:ext cx="4000500" cy="1601986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2950" y="3566517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742950" y="3725466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742950" y="3884414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742950" y="4043363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38" name="Shape 35"/>
          <p:cNvSpPr/>
          <p:nvPr/>
        </p:nvSpPr>
        <p:spPr>
          <a:xfrm>
            <a:off x="542925" y="4795242"/>
            <a:ext cx="200025" cy="200025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39" name="Text 36"/>
          <p:cNvSpPr/>
          <p:nvPr/>
        </p:nvSpPr>
        <p:spPr>
          <a:xfrm>
            <a:off x="542925" y="4795242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828675" y="4827389"/>
            <a:ext cx="12758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Interface (Streamlit)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542925" y="5080992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Purpose: Provide interactive front-end for users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542925" y="5268516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Chat Interface: Web-based conversation management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542925" y="5427464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Voice Input: Speech-to-text via streamlit_mic_recorder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542925" y="5586413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Voice Output: Text-to-speech via gTTS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542925" y="5745361"/>
            <a:ext cx="3771900" cy="11608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Display: Show chat history and responses in real-time</a:t>
            </a:r>
            <a:endParaRPr lang="en-US" sz="621" dirty="0"/>
          </a:p>
        </p:txBody>
      </p:sp>
      <p:sp>
        <p:nvSpPr>
          <p:cNvPr id="46" name="Shape 43"/>
          <p:cNvSpPr/>
          <p:nvPr/>
        </p:nvSpPr>
        <p:spPr>
          <a:xfrm>
            <a:off x="542925" y="5932884"/>
            <a:ext cx="3771900" cy="221456"/>
          </a:xfrm>
          <a:prstGeom prst="rect">
            <a:avLst/>
          </a:prstGeom>
          <a:solidFill>
            <a:srgbClr val="00A8CC">
              <a:alpha val="5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42925" y="5932884"/>
            <a:ext cx="14288" cy="221456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8" name="Text 45"/>
          <p:cNvSpPr/>
          <p:nvPr/>
        </p:nvSpPr>
        <p:spPr>
          <a:xfrm>
            <a:off x="542925" y="5932884"/>
            <a:ext cx="3771900" cy="221456"/>
          </a:xfrm>
          <a:prstGeom prst="rect">
            <a:avLst/>
          </a:prstGeom>
          <a:noFill/>
          <a:ln/>
        </p:spPr>
        <p:txBody>
          <a:bodyPr wrap="square" lIns="102108" tIns="68072" rIns="68072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Streamlit, gTTS, streamlit_mic_recorder</a:t>
            </a:r>
            <a:endParaRPr lang="en-US" sz="534" dirty="0"/>
          </a:p>
        </p:txBody>
      </p:sp>
      <p:sp>
        <p:nvSpPr>
          <p:cNvPr id="49" name="Text 46"/>
          <p:cNvSpPr/>
          <p:nvPr/>
        </p:nvSpPr>
        <p:spPr>
          <a:xfrm>
            <a:off x="742950" y="5268516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742950" y="5427464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51" name="Text 48"/>
          <p:cNvSpPr/>
          <p:nvPr/>
        </p:nvSpPr>
        <p:spPr>
          <a:xfrm>
            <a:off x="742950" y="5586413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742950" y="5745361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584" dirty="0"/>
          </a:p>
        </p:txBody>
      </p:sp>
      <p:sp>
        <p:nvSpPr>
          <p:cNvPr id="53" name="Shape 50"/>
          <p:cNvSpPr/>
          <p:nvPr/>
        </p:nvSpPr>
        <p:spPr>
          <a:xfrm>
            <a:off x="4714875" y="1276945"/>
            <a:ext cx="4000500" cy="3429000"/>
          </a:xfrm>
          <a:prstGeom prst="rect">
            <a:avLst/>
          </a:prstGeom>
          <a:solidFill>
            <a:srgbClr val="F8FBFF"/>
          </a:solidFill>
          <a:ln w="198">
            <a:solidFill>
              <a:srgbClr val="1A5490"/>
            </a:solidFill>
            <a:prstDash val="solid"/>
          </a:ln>
        </p:spPr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276945"/>
            <a:ext cx="4000500" cy="3429000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5413149" y="4820245"/>
            <a:ext cx="26039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RAG Pipeline: From Data Ingestion to Response Generation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40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Results, Conclusion &amp; Future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Outcomes and Strategic Enhancements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1276945"/>
            <a:ext cx="2505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Results</a:t>
            </a:r>
            <a:endParaRPr lang="en-US" sz="784" dirty="0"/>
          </a:p>
        </p:txBody>
      </p:sp>
      <p:sp>
        <p:nvSpPr>
          <p:cNvPr id="6" name="Shape 3"/>
          <p:cNvSpPr/>
          <p:nvPr/>
        </p:nvSpPr>
        <p:spPr>
          <a:xfrm>
            <a:off x="571500" y="1732359"/>
            <a:ext cx="2505056" cy="762595"/>
          </a:xfrm>
          <a:prstGeom prst="rect">
            <a:avLst/>
          </a:prstGeom>
          <a:solidFill>
            <a:srgbClr val="00A8CC">
              <a:alpha val="5000"/>
            </a:srgbClr>
          </a:solidFill>
          <a:ln w="99">
            <a:solidFill>
              <a:srgbClr val="00A8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7225" y="1818084"/>
            <a:ext cx="2333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Functional Prototype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657225" y="1977033"/>
            <a:ext cx="233360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Successfully deployed "MediChat," a fully operational voice-enabled medical Q&amp;A chatbot with text and speech interfaces.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571500" y="2680692"/>
            <a:ext cx="2505056" cy="762595"/>
          </a:xfrm>
          <a:prstGeom prst="rect">
            <a:avLst/>
          </a:prstGeom>
          <a:solidFill>
            <a:srgbClr val="00A8CC">
              <a:alpha val="5000"/>
            </a:srgbClr>
          </a:solidFill>
          <a:ln w="99">
            <a:solidFill>
              <a:srgbClr val="00A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7225" y="2766417"/>
            <a:ext cx="2333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Hallucination Elimination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657225" y="2925366"/>
            <a:ext cx="233360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pipeline consistently produces answers grounded exclusively in The Gale Encyclopedia of Medicine, preventing fabricated information.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571500" y="3629025"/>
            <a:ext cx="2505056" cy="762595"/>
          </a:xfrm>
          <a:prstGeom prst="rect">
            <a:avLst/>
          </a:prstGeom>
          <a:solidFill>
            <a:srgbClr val="00A8CC">
              <a:alpha val="5000"/>
            </a:srgbClr>
          </a:solidFill>
          <a:ln w="99">
            <a:solidFill>
              <a:srgbClr val="00A8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7225" y="3714750"/>
            <a:ext cx="2333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657225" y="3873698"/>
            <a:ext cx="233360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query response times achieved through efficient FAISS vector database retrieval and optimized embedding search.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571500" y="4577358"/>
            <a:ext cx="2505056" cy="623292"/>
          </a:xfrm>
          <a:prstGeom prst="rect">
            <a:avLst/>
          </a:prstGeom>
          <a:solidFill>
            <a:srgbClr val="00A8CC">
              <a:alpha val="5000"/>
            </a:srgbClr>
          </a:solidFill>
          <a:ln w="99">
            <a:solidFill>
              <a:srgbClr val="00A8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7225" y="4663083"/>
            <a:ext cx="2333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Accuracy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657225" y="4822031"/>
            <a:ext cx="233360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generated answers verified against source text chunks, ensuring factual correctness and traceability.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3390881" y="1276945"/>
            <a:ext cx="25050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3390881" y="1732359"/>
            <a:ext cx="2505084" cy="2478658"/>
          </a:xfrm>
          <a:prstGeom prst="rect">
            <a:avLst/>
          </a:prstGeom>
          <a:solidFill>
            <a:srgbClr val="1A5490">
              <a:alpha val="5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90894" y="1832372"/>
            <a:ext cx="2305059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Retrieval-Augmented Generation (RAG) architecture has proven to be a highly effective and reliable solution for building domain-specific, factually-grounded AI assistants from static knowledge bases.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3490894" y="2660935"/>
            <a:ext cx="2305059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By combining the generative capabilities of Large Language Models with the accuracy of retrieval systems, we have successfully transformed a general-purpose LLM into a specialized medical expert system.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3490894" y="3489499"/>
            <a:ext cx="2305059" cy="607219"/>
          </a:xfrm>
          <a:prstGeom prst="rect">
            <a:avLst/>
          </a:prstGeom>
          <a:solidFill>
            <a:srgbClr val="E74C3C">
              <a:alpha val="1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3490894" y="3489499"/>
            <a:ext cx="21431" cy="607219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1"/>
          <p:cNvSpPr/>
          <p:nvPr/>
        </p:nvSpPr>
        <p:spPr>
          <a:xfrm>
            <a:off x="3490894" y="3489499"/>
            <a:ext cx="2305059" cy="60721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Insight:</a:t>
            </a:r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RAG is the optimal approach for </a:t>
            </a:r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applications requiring high factual accuracy and </a:t>
            </a:r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verifiability, particularly in safety-critical </a:t>
            </a:r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domains like healthcare.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6210291" y="1276945"/>
            <a:ext cx="2505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Enhancements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6210291" y="1732359"/>
            <a:ext cx="2505056" cy="762595"/>
          </a:xfrm>
          <a:prstGeom prst="rect">
            <a:avLst/>
          </a:prstGeom>
          <a:solidFill>
            <a:srgbClr val="E74C3C">
              <a:alpha val="5000"/>
            </a:srgbClr>
          </a:solidFill>
          <a:ln w="99">
            <a:solidFill>
              <a:srgbClr val="E74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96016" y="1818084"/>
            <a:ext cx="2333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Display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6296016" y="1977033"/>
            <a:ext cx="233360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 UI to display retrieved source text chunks alongside answers for user verification and transparency.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6210291" y="2680692"/>
            <a:ext cx="2505056" cy="762595"/>
          </a:xfrm>
          <a:prstGeom prst="rect">
            <a:avLst/>
          </a:prstGeom>
          <a:solidFill>
            <a:srgbClr val="E74C3C">
              <a:alpha val="5000"/>
            </a:srgbClr>
          </a:solidFill>
          <a:ln w="99">
            <a:solidFill>
              <a:srgbClr val="E74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96016" y="2766417"/>
            <a:ext cx="2333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Formal Evaluation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6296016" y="2925366"/>
            <a:ext cx="233360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quantitative metrics (e.g., RAGAs framework) for rigorous performance analysis and benchmarking.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6210291" y="3629025"/>
            <a:ext cx="2505056" cy="762595"/>
          </a:xfrm>
          <a:prstGeom prst="rect">
            <a:avLst/>
          </a:prstGeom>
          <a:solidFill>
            <a:srgbClr val="E74C3C">
              <a:alpha val="5000"/>
            </a:srgbClr>
          </a:solidFill>
          <a:ln w="99">
            <a:solidFill>
              <a:srgbClr val="E74C3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96016" y="3714750"/>
            <a:ext cx="2333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Knowledge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6296016" y="3873698"/>
            <a:ext cx="233360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 with live database systems to enable real-time knowledge base updates without system downtime.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6210291" y="4577358"/>
            <a:ext cx="2505056" cy="762595"/>
          </a:xfrm>
          <a:prstGeom prst="rect">
            <a:avLst/>
          </a:prstGeom>
          <a:solidFill>
            <a:srgbClr val="E74C3C">
              <a:alpha val="5000"/>
            </a:srgbClr>
          </a:solidFill>
          <a:ln w="99">
            <a:solidFill>
              <a:srgbClr val="E74C3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96016" y="4663083"/>
            <a:ext cx="2333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Features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6296016" y="4822031"/>
            <a:ext cx="233360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conversation history, export options, and personalized user profiles for enhanced engagement.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11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References &amp; Technology Stack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Technologies and Knowledge Sources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428625" y="1276945"/>
            <a:ext cx="4000500" cy="826889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925" y="1391245"/>
            <a:ext cx="3771900" cy="19823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 Orchestration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542925" y="1675209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LangChain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657225" y="1859161"/>
            <a:ext cx="3657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 for building and orchestrating the RAG pipeline with modular components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428625" y="2232422"/>
            <a:ext cx="4000500" cy="826889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925" y="1675209"/>
            <a:ext cx="71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◆</a:t>
            </a:r>
            <a:endParaRPr lang="en-US" sz="516" dirty="0"/>
          </a:p>
        </p:txBody>
      </p:sp>
      <p:sp>
        <p:nvSpPr>
          <p:cNvPr id="11" name="Text 8"/>
          <p:cNvSpPr/>
          <p:nvPr/>
        </p:nvSpPr>
        <p:spPr>
          <a:xfrm>
            <a:off x="542925" y="2346722"/>
            <a:ext cx="3771900" cy="19823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Vector Storage &amp; Retrieval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542925" y="2630686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FAISS (Facebook AI Similarity Search)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657225" y="2814638"/>
            <a:ext cx="3657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High-speed, efficient vector database for fast document retrieval at scale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28625" y="3187898"/>
            <a:ext cx="4000500" cy="826889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2925" y="2630686"/>
            <a:ext cx="71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◆</a:t>
            </a:r>
            <a:endParaRPr lang="en-US" sz="516" dirty="0"/>
          </a:p>
        </p:txBody>
      </p:sp>
      <p:sp>
        <p:nvSpPr>
          <p:cNvPr id="16" name="Text 13"/>
          <p:cNvSpPr/>
          <p:nvPr/>
        </p:nvSpPr>
        <p:spPr>
          <a:xfrm>
            <a:off x="542925" y="3302198"/>
            <a:ext cx="3771900" cy="19823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Language Model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542925" y="3586163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Mistral-7B-Instruct-v0.2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657225" y="3770114"/>
            <a:ext cx="3657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Open-source LLM for generating factually-grounded answers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428625" y="4143375"/>
            <a:ext cx="4000500" cy="1184077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2925" y="3586163"/>
            <a:ext cx="71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◆</a:t>
            </a:r>
            <a:endParaRPr lang="en-US" sz="516" dirty="0"/>
          </a:p>
        </p:txBody>
      </p:sp>
      <p:sp>
        <p:nvSpPr>
          <p:cNvPr id="21" name="Text 18"/>
          <p:cNvSpPr/>
          <p:nvPr/>
        </p:nvSpPr>
        <p:spPr>
          <a:xfrm>
            <a:off x="542925" y="4257675"/>
            <a:ext cx="3771900" cy="19823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Interface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542925" y="4541639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Streamlit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657225" y="4725591"/>
            <a:ext cx="3657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framework for building interactive, responsive web applications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542925" y="4898827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streamlit_mic_recorder &amp; gTTS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657225" y="5082778"/>
            <a:ext cx="3657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Speech-to-text and text-to-speech capabilities for voice interaction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428625" y="5456039"/>
            <a:ext cx="4000500" cy="826889"/>
          </a:xfrm>
          <a:prstGeom prst="rect">
            <a:avLst/>
          </a:prstGeom>
          <a:solidFill>
            <a:srgbClr val="1A5490">
              <a:alpha val="2000"/>
            </a:srgbClr>
          </a:solidFill>
          <a:ln w="99">
            <a:solidFill>
              <a:srgbClr val="1A549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2925" y="4541639"/>
            <a:ext cx="71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◆</a:t>
            </a:r>
            <a:endParaRPr lang="en-US" sz="516" dirty="0"/>
          </a:p>
        </p:txBody>
      </p:sp>
      <p:sp>
        <p:nvSpPr>
          <p:cNvPr id="28" name="Text 25"/>
          <p:cNvSpPr/>
          <p:nvPr/>
        </p:nvSpPr>
        <p:spPr>
          <a:xfrm>
            <a:off x="542925" y="4898827"/>
            <a:ext cx="71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◆</a:t>
            </a:r>
            <a:endParaRPr lang="en-US" sz="516" dirty="0"/>
          </a:p>
        </p:txBody>
      </p:sp>
      <p:sp>
        <p:nvSpPr>
          <p:cNvPr id="29" name="Text 26"/>
          <p:cNvSpPr/>
          <p:nvPr/>
        </p:nvSpPr>
        <p:spPr>
          <a:xfrm>
            <a:off x="542925" y="5570339"/>
            <a:ext cx="3771900" cy="19823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Access &amp; Embeddings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542925" y="5854303"/>
            <a:ext cx="3771900" cy="12680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Hugging Face Hub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657225" y="6038255"/>
            <a:ext cx="3657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to LLMs and embedding models; all-MiniLM-L6-v2 for text embeddings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542925" y="5854303"/>
            <a:ext cx="71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A8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◆</a:t>
            </a:r>
            <a:endParaRPr lang="en-US" sz="516" dirty="0"/>
          </a:p>
        </p:txBody>
      </p:sp>
      <p:sp>
        <p:nvSpPr>
          <p:cNvPr id="33" name="Text 30"/>
          <p:cNvSpPr/>
          <p:nvPr/>
        </p:nvSpPr>
        <p:spPr>
          <a:xfrm>
            <a:off x="4857750" y="1276945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Research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4857750" y="1489472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Retrieval-Augmented Generation for Knowledge-Intensive NLP Tasks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4857750" y="1623752"/>
            <a:ext cx="3857625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Lewis, P., et al. (2020). NeurIPS.</a:t>
            </a:r>
            <a:endParaRPr lang="en-US" sz="568" dirty="0"/>
          </a:p>
        </p:txBody>
      </p:sp>
      <p:sp>
        <p:nvSpPr>
          <p:cNvPr id="36" name="Text 33"/>
          <p:cNvSpPr/>
          <p:nvPr/>
        </p:nvSpPr>
        <p:spPr>
          <a:xfrm>
            <a:off x="4857750" y="1805192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Mistral 7B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4857750" y="1939472"/>
            <a:ext cx="3857625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Jiang, A. Q., et al. (2023). Mistral AI.</a:t>
            </a:r>
            <a:endParaRPr lang="en-US" sz="568" dirty="0"/>
          </a:p>
        </p:txBody>
      </p:sp>
      <p:sp>
        <p:nvSpPr>
          <p:cNvPr id="38" name="Text 35"/>
          <p:cNvSpPr/>
          <p:nvPr/>
        </p:nvSpPr>
        <p:spPr>
          <a:xfrm>
            <a:off x="4857750" y="2120912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Sentence-Transformers: Semantic Textual Similarity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4857750" y="2255193"/>
            <a:ext cx="3857625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Reimers, N., &amp; Gurevych, I. (2019).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4714875" y="2579508"/>
            <a:ext cx="4000500" cy="1941314"/>
          </a:xfrm>
          <a:prstGeom prst="rect">
            <a:avLst/>
          </a:prstGeom>
          <a:solidFill>
            <a:srgbClr val="00A8CC">
              <a:alpha val="5000"/>
            </a:srgbClr>
          </a:solidFill>
          <a:ln w="198">
            <a:solidFill>
              <a:srgbClr val="00A8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29175" y="2693808"/>
            <a:ext cx="37719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spc="1" kern="0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Source</a:t>
            </a:r>
            <a:endParaRPr lang="en-US" sz="634" dirty="0"/>
          </a:p>
        </p:txBody>
      </p:sp>
      <p:sp>
        <p:nvSpPr>
          <p:cNvPr id="42" name="Text 39"/>
          <p:cNvSpPr/>
          <p:nvPr/>
        </p:nvSpPr>
        <p:spPr>
          <a:xfrm>
            <a:off x="4829175" y="2906334"/>
            <a:ext cx="37719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Gale Encyclopedia of Medicine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Second Edition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Longe, J. L. (Ed.). (2002). Gale Group.</a:t>
            </a:r>
            <a:endParaRPr lang="en-US" sz="584" dirty="0"/>
          </a:p>
        </p:txBody>
      </p:sp>
      <p:sp>
        <p:nvSpPr>
          <p:cNvPr id="43" name="Shape 40"/>
          <p:cNvSpPr/>
          <p:nvPr/>
        </p:nvSpPr>
        <p:spPr>
          <a:xfrm>
            <a:off x="4829175" y="3377822"/>
            <a:ext cx="3771900" cy="1000125"/>
          </a:xfrm>
          <a:prstGeom prst="rect">
            <a:avLst/>
          </a:prstGeom>
          <a:solidFill>
            <a:srgbClr val="F8FBFF"/>
          </a:solidFill>
          <a:ln w="99">
            <a:solidFill>
              <a:srgbClr val="00A8CC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774" y="3377822"/>
            <a:ext cx="700701" cy="1000125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4857750" y="4720847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extend our gratitude to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54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Prof. Parul Rajwade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her invaluable guidance and support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throughout this project. Special thanks to JSPM's Rajarshi Shahu College of Engineering for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providing the resources and infrastructure to develop this innovative solution.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2025-11-04T08:07:17Z</dcterms:created>
  <dcterms:modified xsi:type="dcterms:W3CDTF">2025-11-04T08:07:17Z</dcterms:modified>
</cp:coreProperties>
</file>